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webextensions/webextension1.xml" ContentType="application/vnd.ms-office.webextension+xml"/>
  <Override PartName="/ppt/webextensions/webextension2.xml" ContentType="application/vnd.ms-office.webextension+xml"/>
  <Override PartName="/ppt/theme/themeOverride2.xml" ContentType="application/vnd.openxmlformats-officedocument.themeOverride+xml"/>
  <Override PartName="/ppt/webextensions/webextension3.xml" ContentType="application/vnd.ms-office.webextension+xml"/>
  <Override PartName="/ppt/theme/themeOverride3.xml" ContentType="application/vnd.openxmlformats-officedocument.themeOverride+xml"/>
  <Override PartName="/ppt/webextensions/webextension4.xml" ContentType="application/vnd.ms-office.webextension+xml"/>
  <Override PartName="/ppt/theme/themeOverride4.xml" ContentType="application/vnd.openxmlformats-officedocument.themeOverride+xml"/>
  <Override PartName="/ppt/webextensions/webextension5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1" r:id="rId3"/>
    <p:sldId id="276" r:id="rId4"/>
    <p:sldId id="273" r:id="rId5"/>
    <p:sldId id="272" r:id="rId6"/>
    <p:sldId id="288" r:id="rId7"/>
    <p:sldId id="274" r:id="rId8"/>
    <p:sldId id="275" r:id="rId9"/>
    <p:sldId id="283" r:id="rId10"/>
    <p:sldId id="277" r:id="rId11"/>
    <p:sldId id="278" r:id="rId12"/>
    <p:sldId id="279" r:id="rId13"/>
    <p:sldId id="294" r:id="rId14"/>
    <p:sldId id="289" r:id="rId15"/>
    <p:sldId id="290" r:id="rId16"/>
    <p:sldId id="291" r:id="rId17"/>
    <p:sldId id="292" r:id="rId18"/>
    <p:sldId id="295" r:id="rId19"/>
    <p:sldId id="293" r:id="rId20"/>
    <p:sldId id="282" r:id="rId21"/>
    <p:sldId id="297" r:id="rId22"/>
    <p:sldId id="284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3635"/>
    <a:srgbClr val="9EFF29"/>
    <a:srgbClr val="C80064"/>
    <a:srgbClr val="C33A1F"/>
    <a:srgbClr val="FF2549"/>
    <a:srgbClr val="007033"/>
    <a:srgbClr val="D6370C"/>
    <a:srgbClr val="1D3A00"/>
    <a:srgbClr val="FF85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89011" autoAdjust="0"/>
  </p:normalViewPr>
  <p:slideViewPr>
    <p:cSldViewPr snapToGrid="0">
      <p:cViewPr varScale="1">
        <p:scale>
          <a:sx n="110" d="100"/>
          <a:sy n="110" d="100"/>
        </p:scale>
        <p:origin x="678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58645" y="1762433"/>
            <a:ext cx="7779775" cy="168131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1271" y="3775583"/>
            <a:ext cx="7779774" cy="678426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449" y="239086"/>
            <a:ext cx="8259098" cy="763526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305232"/>
            <a:ext cx="8246070" cy="3473242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066" y="406537"/>
            <a:ext cx="6908487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2">
                    <a:lumMod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43000"/>
            <a:ext cx="6931743" cy="3545497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8" y="234775"/>
            <a:ext cx="8093365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559643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032040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559643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032040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xmlns="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03-Nov-25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workrail.co.uk/who-we-are/transparency-and-ethics/open-data-feeds/" TargetMode="External"/><Relationship Id="rId2" Type="http://schemas.openxmlformats.org/officeDocument/2006/relationships/hyperlink" Target="https://www.ordnancesurvey.co.uk/business-government/products/open-map-name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open-meteo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10.png"/><Relationship Id="rId4" Type="http://schemas.microsoft.com/office/2011/relationships/webextension" Target="../webextensions/webextension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110.png"/><Relationship Id="rId4" Type="http://schemas.microsoft.com/office/2011/relationships/webextension" Target="../webextensions/webextension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10.png"/><Relationship Id="rId4" Type="http://schemas.microsoft.com/office/2011/relationships/webextension" Target="../webextensions/webextension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110.png"/><Relationship Id="rId4" Type="http://schemas.microsoft.com/office/2011/relationships/webextension" Target="../webextensions/webextension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955" y="1755059"/>
            <a:ext cx="7086599" cy="1563324"/>
          </a:xfrm>
        </p:spPr>
        <p:txBody>
          <a:bodyPr>
            <a:normAutofit/>
          </a:bodyPr>
          <a:lstStyle/>
          <a:p>
            <a:r>
              <a:rPr lang="en-US" dirty="0"/>
              <a:t>UK Train Ride Analysis</a:t>
            </a: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Team Members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dirty="0"/>
              <a:t>Ahmed Sobhy Saleh</a:t>
            </a:r>
          </a:p>
          <a:p>
            <a:r>
              <a:rPr lang="en-US" dirty="0"/>
              <a:t>Mohamed Ramadan Mohamed</a:t>
            </a:r>
          </a:p>
          <a:p>
            <a:r>
              <a:rPr lang="en-US" dirty="0"/>
              <a:t>Ramez Mamdouh Hanna</a:t>
            </a:r>
          </a:p>
          <a:p>
            <a:r>
              <a:rPr lang="en-US" dirty="0"/>
              <a:t>Shireen Talaat Mohammed </a:t>
            </a:r>
            <a:r>
              <a:rPr lang="en-US" dirty="0" err="1"/>
              <a:t>Zayed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826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199" y="1758462"/>
            <a:ext cx="6931743" cy="2930035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Source </a:t>
            </a:r>
          </a:p>
          <a:p>
            <a:r>
              <a:rPr lang="en-US" dirty="0"/>
              <a:t>Project Stages </a:t>
            </a:r>
          </a:p>
          <a:p>
            <a:r>
              <a:rPr lang="en-US" dirty="0"/>
              <a:t>Visualizations </a:t>
            </a:r>
          </a:p>
        </p:txBody>
      </p:sp>
    </p:spTree>
    <p:extLst>
      <p:ext uri="{BB962C8B-B14F-4D97-AF65-F5344CB8AC3E}">
        <p14:creationId xmlns:p14="http://schemas.microsoft.com/office/powerpoint/2010/main" val="646651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631BE2A-01B6-5106-F915-6A5FE3A6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527D007-F4D3-A54D-11FE-826A2077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Overview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C9ADFCF-9276-10F0-E8F8-4306C0F0A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project analyzes real UK rail ticketing and journey data to: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Measure on-time performance</a:t>
            </a:r>
          </a:p>
          <a:p>
            <a:r>
              <a:rPr lang="en-US" sz="2000" dirty="0"/>
              <a:t>Identify causes of delays and cancellations</a:t>
            </a:r>
          </a:p>
          <a:p>
            <a:r>
              <a:rPr lang="en-US" sz="2000" dirty="0"/>
              <a:t>Understand passenger booking behavior (ticket types, </a:t>
            </a:r>
            <a:r>
              <a:rPr lang="en-US" sz="2000" dirty="0" err="1"/>
              <a:t>railcards</a:t>
            </a:r>
            <a:r>
              <a:rPr lang="en-US" sz="2000" dirty="0"/>
              <a:t>, peak travel)</a:t>
            </a:r>
          </a:p>
          <a:p>
            <a:r>
              <a:rPr lang="en-US" sz="2000" dirty="0"/>
              <a:t>Map route-level reliability and demand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43769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Idea and Objective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0985" y="1143000"/>
            <a:ext cx="6750205" cy="354549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11827"/>
                </a:solidFill>
                <a:latin typeface="system-ui"/>
              </a:rPr>
              <a:t>Key Questions We Answer:</a:t>
            </a:r>
            <a:endParaRPr lang="en-US" sz="4200" b="1" dirty="0">
              <a:solidFill>
                <a:srgbClr val="2C2C36"/>
              </a:solidFill>
              <a:latin typeface="system-ui"/>
            </a:endParaRPr>
          </a:p>
          <a:p>
            <a:pPr marL="0" indent="0">
              <a:buNone/>
            </a:pPr>
            <a:r>
              <a:rPr lang="en-US" sz="3300" b="1" dirty="0"/>
              <a:t>1. Operational Performance Overview</a:t>
            </a:r>
          </a:p>
          <a:p>
            <a:pPr lvl="0"/>
            <a:r>
              <a:rPr lang="en-US" sz="2900" dirty="0"/>
              <a:t>How many journeys are on time vs delayed?</a:t>
            </a:r>
          </a:p>
          <a:p>
            <a:pPr lvl="0"/>
            <a:r>
              <a:rPr lang="en-US" sz="2900" dirty="0"/>
              <a:t>What are the main reasons for delays?</a:t>
            </a:r>
          </a:p>
          <a:p>
            <a:pPr lvl="0"/>
            <a:r>
              <a:rPr lang="en-US" sz="2900" dirty="0"/>
              <a:t>How does delay duration vary by route or day of week?</a:t>
            </a:r>
          </a:p>
          <a:p>
            <a:pPr lvl="0"/>
            <a:r>
              <a:rPr lang="en-US" sz="2900" dirty="0"/>
              <a:t>Are refund requests correlated with delays?</a:t>
            </a:r>
          </a:p>
          <a:p>
            <a:pPr lvl="0"/>
            <a:endParaRPr lang="en-US" dirty="0"/>
          </a:p>
          <a:p>
            <a:pPr marL="0" indent="0">
              <a:buNone/>
            </a:pPr>
            <a:r>
              <a:rPr lang="en-US" sz="3300" b="1" dirty="0"/>
              <a:t>2. Revenue &amp; Ticketing Insights</a:t>
            </a:r>
          </a:p>
          <a:p>
            <a:pPr lvl="0"/>
            <a:r>
              <a:rPr lang="en-US" sz="2900" dirty="0"/>
              <a:t>How does revenue vary by ticket type, class, or rail card?</a:t>
            </a:r>
          </a:p>
          <a:p>
            <a:pPr lvl="0"/>
            <a:r>
              <a:rPr lang="en-US" sz="2900" dirty="0"/>
              <a:t>What’s the average ticket price by route or purchase method?</a:t>
            </a:r>
          </a:p>
          <a:p>
            <a:pPr lvl="0"/>
            <a:r>
              <a:rPr lang="en-US" sz="2900" dirty="0"/>
              <a:t>When are most tickets purchased (lead time)?</a:t>
            </a:r>
          </a:p>
          <a:p>
            <a:pPr lvl="0"/>
            <a:r>
              <a:rPr lang="en-US" sz="2900" dirty="0"/>
              <a:t>Which payment methods are most popular?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04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Project Idea and Objective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70985" y="1143000"/>
            <a:ext cx="6750205" cy="354549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11827"/>
                </a:solidFill>
                <a:latin typeface="system-ui"/>
              </a:rPr>
              <a:t>Key Questions We Answer:</a:t>
            </a:r>
            <a:endParaRPr lang="en-US" b="1" dirty="0">
              <a:solidFill>
                <a:srgbClr val="2C2C36"/>
              </a:solidFill>
              <a:latin typeface="system-ui"/>
            </a:endParaRPr>
          </a:p>
          <a:p>
            <a:pPr marL="0" indent="0">
              <a:buNone/>
            </a:pPr>
            <a:r>
              <a:rPr lang="en-US" b="1" dirty="0"/>
              <a:t>3. Weather Impact on Train Operations</a:t>
            </a:r>
          </a:p>
          <a:p>
            <a:r>
              <a:rPr lang="en-US" sz="2600" dirty="0"/>
              <a:t>Does weather (rain, wind, temperature) affect delays?</a:t>
            </a:r>
          </a:p>
          <a:p>
            <a:r>
              <a:rPr lang="en-US" sz="2600" dirty="0"/>
              <a:t>Are certain routes more weather-sensitive?</a:t>
            </a:r>
          </a:p>
          <a:p>
            <a:r>
              <a:rPr lang="en-US" sz="2600" dirty="0"/>
              <a:t>How does precipitation correlate with journey status?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b="1" dirty="0"/>
              <a:t>4. Customer Journey &amp; Behavior</a:t>
            </a:r>
          </a:p>
          <a:p>
            <a:pPr lvl="0"/>
            <a:r>
              <a:rPr lang="en-US" sz="2300" dirty="0"/>
              <a:t>What are the busiest travel days/times?</a:t>
            </a:r>
          </a:p>
          <a:p>
            <a:pPr lvl="0"/>
            <a:r>
              <a:rPr lang="en-US" sz="2300" dirty="0"/>
              <a:t>How does journey duration vary by departure time?</a:t>
            </a:r>
          </a:p>
          <a:p>
            <a:pPr lvl="0"/>
            <a:r>
              <a:rPr lang="en-US" sz="2300" dirty="0"/>
              <a:t>Which routes are most popular?</a:t>
            </a:r>
          </a:p>
          <a:p>
            <a:pPr lvl="0"/>
            <a:r>
              <a:rPr lang="en-US" sz="2300" dirty="0"/>
              <a:t>Do rail card holders travel differently?</a:t>
            </a:r>
          </a:p>
        </p:txBody>
      </p:sp>
    </p:spTree>
    <p:extLst>
      <p:ext uri="{BB962C8B-B14F-4D97-AF65-F5344CB8AC3E}">
        <p14:creationId xmlns:p14="http://schemas.microsoft.com/office/powerpoint/2010/main" val="154994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Stages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947580D-D59B-3675-6CE1-8288E13D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Cleaning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Modeling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DAX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Sample Visuals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Reports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1135260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8A50400-E604-8D57-4541-7757F62DA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47D136C-BD73-1E2D-45D1-9ABDEF39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711" y="406537"/>
            <a:ext cx="3554373" cy="72534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Data Sources </a:t>
            </a:r>
            <a:br>
              <a:rPr lang="en-US" b="1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959EA1F3-9C6C-5C03-8F3B-FE2F3768B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533" y="1143000"/>
            <a:ext cx="6768790" cy="354549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From DEPI CSV file (Railway)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3200" dirty="0"/>
              <a:t>Station Location Data (Geocoding):</a:t>
            </a:r>
            <a:br>
              <a:rPr lang="en-US" sz="3200" dirty="0"/>
            </a:br>
            <a:r>
              <a:rPr lang="en-US" sz="3200" dirty="0"/>
              <a:t>Manually created from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Ordnance Survey. Retrieved from </a:t>
            </a:r>
            <a:r>
              <a:rPr lang="en-US" u="sng" dirty="0">
                <a:hlinkClick r:id="rId2"/>
              </a:rPr>
              <a:t>ordnance survey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Network Rail </a:t>
            </a:r>
            <a:r>
              <a:rPr lang="en-US" i="1" dirty="0"/>
              <a:t>Open Data Feeds</a:t>
            </a:r>
            <a:r>
              <a:rPr lang="en-US" dirty="0"/>
              <a:t>. Retrieved from </a:t>
            </a:r>
            <a:r>
              <a:rPr lang="en-US" u="sng" dirty="0">
                <a:hlinkClick r:id="rId3"/>
              </a:rPr>
              <a:t>UK network rail</a:t>
            </a:r>
            <a:endParaRPr lang="en-US" u="sng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Weather Data Retrieved from weather API with historical data. </a:t>
            </a:r>
            <a:r>
              <a:rPr lang="en-US" u="sng" dirty="0">
                <a:hlinkClick r:id="rId4"/>
              </a:rPr>
              <a:t>open-</a:t>
            </a:r>
            <a:r>
              <a:rPr lang="en-US" u="sng" dirty="0" err="1">
                <a:hlinkClick r:id="rId4"/>
              </a:rPr>
              <a:t>meteo</a:t>
            </a:r>
            <a:r>
              <a:rPr lang="en-US" u="sng" dirty="0"/>
              <a:t> </a:t>
            </a:r>
            <a:r>
              <a:rPr lang="en-US" dirty="0"/>
              <a:t>Then used downloaded CSV file.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Public Holiday Calendar Manually created from https://www.gov.uk/bank-holidays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59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Cleaning Steps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947580D-D59B-3675-6CE1-8288E13D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Data Before Cleaning	               Data After Cleaning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40" y="1773730"/>
            <a:ext cx="3454445" cy="30747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898" y="1773730"/>
            <a:ext cx="3609103" cy="307473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" name="Right Arrow 1"/>
          <p:cNvSpPr/>
          <p:nvPr/>
        </p:nvSpPr>
        <p:spPr>
          <a:xfrm>
            <a:off x="3573585" y="3376246"/>
            <a:ext cx="544313" cy="22860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5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Modeling 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55" y="1408024"/>
            <a:ext cx="6585438" cy="343687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831146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DAX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95" y="1142999"/>
            <a:ext cx="5964571" cy="3772949"/>
          </a:xfrm>
        </p:spPr>
      </p:pic>
    </p:spTree>
    <p:extLst>
      <p:ext uri="{BB962C8B-B14F-4D97-AF65-F5344CB8AC3E}">
        <p14:creationId xmlns:p14="http://schemas.microsoft.com/office/powerpoint/2010/main" val="238089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Sample Visuals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84" y="1131886"/>
            <a:ext cx="5015591" cy="3544888"/>
          </a:xfrm>
        </p:spPr>
      </p:pic>
    </p:spTree>
    <p:extLst>
      <p:ext uri="{BB962C8B-B14F-4D97-AF65-F5344CB8AC3E}">
        <p14:creationId xmlns:p14="http://schemas.microsoft.com/office/powerpoint/2010/main" val="51002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955" y="1755059"/>
            <a:ext cx="7086599" cy="1563324"/>
          </a:xfrm>
        </p:spPr>
        <p:txBody>
          <a:bodyPr>
            <a:normAutofit/>
          </a:bodyPr>
          <a:lstStyle/>
          <a:p>
            <a:r>
              <a:rPr lang="en-US" dirty="0" smtClean="0"/>
              <a:t>Reports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436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rgbClr val="FFC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xmlns="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</a:t>
            </a:r>
            <a:r>
              <a:rPr lang="en-GB" sz="1350" dirty="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BI – Operational Performance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xmlns="" id="{87D43E1C-7B4D-44A2-8E6D-6786349BFB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rgbClr val="FFC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xmlns="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</a:t>
            </a:r>
            <a:r>
              <a:rPr lang="en-GB" sz="1350" dirty="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BI – Sales Performance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xmlns="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642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rgbClr val="FFC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xmlns="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</a:t>
            </a:r>
            <a:r>
              <a:rPr lang="en-GB" sz="1350" dirty="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BI – Weather Impact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xmlns="" id="{87D43E1C-7B4D-44A2-8E6D-6786349BFB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983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rgbClr val="FFC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xmlns="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</a:t>
            </a:r>
            <a:r>
              <a:rPr lang="en-GB" sz="1350" dirty="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BI – Passengers Behaviour 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xmlns="" id="{87D43E1C-7B4D-44A2-8E6D-6786349BFB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2934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55955" y="1755059"/>
            <a:ext cx="7086599" cy="1563324"/>
          </a:xfrm>
        </p:spPr>
        <p:txBody>
          <a:bodyPr>
            <a:normAutofit/>
          </a:bodyPr>
          <a:lstStyle/>
          <a:p>
            <a:r>
              <a:rPr lang="en-US" dirty="0" smtClean="0"/>
              <a:t>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64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5000"/>
                <a:lumOff val="95000"/>
              </a:schemeClr>
            </a:gs>
            <a:gs pos="74000">
              <a:srgbClr val="FFC00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xmlns="" id="{3469E413-BCF5-4E2F-BE4B-EB617C589F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0" y="263547"/>
            <a:ext cx="9144000" cy="480386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99000" tIns="135000" rIns="162000" bIns="135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350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</a:t>
            </a:r>
            <a:r>
              <a:rPr lang="en-GB" sz="1350" dirty="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BI – </a:t>
            </a:r>
            <a:r>
              <a:rPr lang="en-GB" sz="1350" smtClean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Overview Dashboard</a:t>
            </a:r>
            <a:endParaRPr lang="en-IE" sz="9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xmlns="" id="{87D43E1C-7B4D-44A2-8E6D-6786349BFB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685800" y="397774"/>
            <a:ext cx="218599" cy="21859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540759" y="878160"/>
              <a:ext cx="8062482" cy="4001794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0759" y="878160"/>
                <a:ext cx="8062482" cy="40017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2657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29" y="1982788"/>
            <a:ext cx="6908487" cy="72534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Q&amp;A Session</a:t>
            </a:r>
            <a:endParaRPr lang="en-US" sz="5400" b="1" dirty="0">
              <a:ln w="12700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58145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729" y="1982788"/>
            <a:ext cx="6908487" cy="72534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tx1"/>
                  </a:solidFill>
                  <a:prstDash val="solid"/>
                </a:ln>
                <a:solidFill>
                  <a:schemeClr val="tx1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en-US" sz="5400" b="1" dirty="0">
              <a:ln w="12700">
                <a:solidFill>
                  <a:schemeClr val="tx1"/>
                </a:solidFill>
                <a:prstDash val="solid"/>
              </a:ln>
              <a:solidFill>
                <a:schemeClr val="tx1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61618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773D097-31D1-8E3D-CF63-71F935B86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D75C940A-6602-3B0F-FC74-DBE546F8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947580D-D59B-3675-6CE1-8288E13D6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84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webextension1.xml><?xml version="1.0" encoding="utf-8"?>
<we:webextension xmlns:we="http://schemas.microsoft.com/office/webextensions/webextension/2010/11" id="{e88a0755-44b3-4b83-b0fc-826e5ad16d07}">
  <we:reference id="WA200003233" version="2.0.0.3" store="en-US" storeType="OMEX"/>
  <we:alternateReferences/>
  <we:properties>
    <we:property name="Microsoft.Office.CampaignId" value="&quot;none&quot;"/>
    <we:property name="reportUrl" value="&quot;/groups/1347d8b5-c22d-4e2a-bab7-3dd7782bbc24/reports/d79ec048-d089-4ae5-b50f-ae0c8f914a7f/40b50fb3e316104a3f1c?bookmarkGuid=0406ca0f-b12d-4d01-9f02-8c5181c79062&amp;bookmarkUsage=1&amp;ctid=0bc92751-071a-4e2c-a48b-633206fef374&amp;fromEntryPoint=export&quot;"/>
    <we:property name="reportState" value="&quot;CONNECTED&quot;"/>
    <we:property name="artifactViewState" value="&quot;live&quot;"/>
    <we:property name="reportEmbeddedTime" value="&quot;2025-11-03T15:38:16.538Z&quot;"/>
    <we:property name="creatorSessionId" value="&quot;a18c64ff-e298-4b0d-a761-204afcdd1c1d&quot;"/>
    <we:property name="creatorUserId" value="&quot;10032004EEB1F08B&quot;"/>
    <we:property name="creatorTenantId" value="&quot;0bc92751-071a-4e2c-a48b-633206fef374&quot;"/>
    <we:property name="pageDisplayName" value="&quot;Operational Performance &quot;"/>
    <we:property name="pageName" value="&quot;40b50fb3e316104a3f1c&quot;"/>
    <we:property name="reportName" value="&quot;UK_Train_Ride_Merged_New&quot;"/>
    <we:property name="isVisualContainerHeaderHidden" value="false"/>
    <we:property name="isFiltersActionButtonVisible" value="true"/>
    <we:property name="initialStateBookmark" value="&quot;H4sIAAAAAAAAA91ZbU/jOBD+K1G+7J1UnZw4r3zjVeL2gB5F7IcTOk3iSZslTXpOwtJD/e83sdMulEJ6sC3VfkBqxpPxzDyPHzvmwRRpOclgeg5jNPfMg6K4HYO8NSyzZ+at7eLi89n+5ee/z/fPjslcTKq0yEtz78GsQA6xuk7LGrImAhn/uumZkGV9GDZPCWQl9swJyrLIIUv/Re1MQ5WscdYz8X6SFRKakIMKKmzC3pE7PdPc1m+cZoS4Su9wgHGlrQ6LXJZEHLnlWcwBnlgxuZXaQWW20qUJraY/LPIK0pymaWwu+izEKAwDEbrAfAae19iTNKtal2h6fD+RVB3VPJ00XTmkXIeFTGPITFWFxFIn/WAeFlk9Vr+On9gHRS1jvMREDeVVWk0pkoQ0+wZTc0bd6MuCeqXMv5NzjlOj6UpdqtFR8e1QIk0szD026y1y2Rd3kMdkXU5kfziUOISqfTzeSpYndd4C5T5P+oYsZZoPs5YI3zG50rVMUjwcgawaokVfCdGm//RSIQXKg6mC4CiVcy7YvaXsP77k2c2csfTS10ecbCmja9hMKjezxgM9CHy0gIkwAhR2aLNXCN0u8wQj34/i0PWDGF0HQiEYgbCS7jpQE+d6vlQJiBNZjFXEVkwkeT6roGdqoFnTpi8jlNi2IxfpHLTTpb6U63dMP6jJl3p1iUAaZCSFNI4wU72kDK4hq5Vs0QR/pFSUpqQy00ufBumQdMs4oexriZ/USy+5VpAkxmBUyIrEr9uVVsGrTlcYj/Km4cZpWdavB7ySTcD4VZ8vtAip3+v4GAs4SuXe0OpmthGZWwHLTgoddTgvQS1m4/ToBwhdnNUlAYDiAOSOK15X7VtUvFWrWGme8JKYCR76IQfgwuZWDJ2b+FUxOV9bzso6+qdG2UjYUgHzAfr95/zHO4Sxt3CEx477WWacUfmkQ09VdIAZ9fyHaGRR0wmMbO38SYqZMJs5LtYk4zzBNTOA5Qz26exH6qnBNb6ToMmB0DL3LKbg1uXbj3q1Y7uN7qRKG6IMX351QavZbIMq26azk9KqsT6q9VeA8ctZmlO25a9LQmP93CK7fhe2KbdzGqtF5wR24orEcy3G6S+y7RA7NfZFYq0nFSvlb3l/SuNbrOjQUufVCpJ3swSkeCsxNlZF03PCObS8hMeW51hWELvM45bz9pZvnsV9+kTAJcqyLUPyYVVqyFzGXOFEEXcdy4uYjxFzOyHb+HVCH6ZjzCsiXzUqxK5uBX3yHUGJhqLB+w/ZoiAR3XHh76h5i2r/jCNa9hkCBhB6DgPwPBtZGAa7rEFX6RiNIjHmje3mUW+L6/AZ2v+T0kmd55jtLp27u79NRi91WxMaAs/yHdtmwCKIWOCLqPvC9wMJfUlmtSHuEpHb48pbabw4metkdlyjX0Zgi2R+2nFN5VgIH2xEcIOA8dj1POi+9vj4w0YnPcqMTljyCSHMMcqhOmgLqEDVM9FTpqjHC6GGUZW7+oLzAEp9Tbo4YK/CbnErvNmN1YqSUCALbCuI0AbPtbn4ePDeubB/LuRWrTlusxAsYXM/Zg5nNmfAm1ivtqXC+yoq7p9KnPpc4GBxzhxmx34Yx5HruN7bo6Hr+pw7vogZC23Xcmzf7YxWjmCCy7FUuFUYFnVVTiDGPuS4AkvCEHKBogPP5t+/ppqDUknbG7I1/DUIs/8AmNGox7keAAA=&quot;"/>
    <we:property name="bookmark" value="&quot;H4sIAAAAAAAAA91ZTW/bOBD9K4Iu3QWMBUXqM7d8Al1su9kkSA+LHEbiyFYri16KauMN/N93RNlu4jiRN6kdo4cAFjkazrz3+EQpd64s6kkJ048wRvfAPVLqyxj0F8dzB27VjUGCnIdhkucyj3icJ+i1s2piClXV7sGda0AP0VwXdQNlm4gG/74ZuFCW5zBsr3Ioaxy4E9S1qqAs/sUumKaMbnA2cPF2UioNbcpLAwbbtF8pnK6pBO83QStCZoqveImZ6UZ9lgYsTwUKL/SYDyL3MgqruwBb2dqQNrVd/lhVBoqKlmnHAoxYgmmSxDIJgEUMwrAdz4vSzEPS6entRFN31PN00oJzTLUOlS4yKF3bhca6K/rOPVZlM7a/Th+MX6pGZ3iBuZ2qTGGmlElDUX6DqTsjNM61Iqzs8O8UXOHUaVFpajs7Ut+ONdLC0j1gs8GylkP5FaqMRlcLORwONQ7BzC9Pd1LlWVPNiQoeF31DI3VRDcu5EL5zctX1MinweATatEJLPxOjLf50k9IS9dHUUnBS6IUW+GCl+rdveXazUCzd9PmeJueS6XrYTik3szYCQ4gj9IDJJAWUPOHsGUHPd3uOaRSlWRJEcYaBD4mUjEhYK/cuUZvnerFViYgzrcY249xTNEU+6mDgdkSzFqZPI9Q4h6OSxYK09yu41Jsj1l3YxVewukAgD3JypZ0TLC2WVME1lI21LVrgj4Ka6iRph+mmd5fFkHzLOaPqG43v7E1PhRrIc+dypLQh8+sPpV3wbNAVZqOqBdx5X9fN8wmvdJswezbmE21CwnuTGGdJR23DW1ndzLZic2to2UujI4SrGuxmdt6f/ACjy8qmJgJQHoHec8fr632HjrduF1vPk2GeMSmSKBEAQnLhZdD7EL9Sk48b21ndpP80qFsLW2lgMUG//1r8eIUxDpaBcD/wsCydD9Q++dBDF73EkjD/IR6pGjqB0dh8/bzAUrrtGn9uKMZFgRtWAKsVHNLZj9yzI9f5LoK2BmLLPfCYpbtrn9/Das+eNh2StmxIS3z61qWsZrMtuuy8nL201o7rk6Z7C3B++VBUVG3964rReD+3yW6Owi7tdiFju+n8mOeBzMPAY4L+Us4T7PXYJ4W1mVWstb/V51ORfUFDh5amMmtE3q8S0PKlwthaFy3mxHPihbnIvND3vDgLWCg8/+WQb1/F5/SKgCuSZTum5M267CgLGAukn6Yi8L0wZRGmLOilbOufE85hOsbKkPjMSMl9fRScU+wIanSsDF5/yJaKTHTPjb+n5x26/SONdLbPEDCGJPQZQBhyZEkS77MHXRVjdFTuLIDt19Fgh/vwEdv/U9J5U1VY7q+c+9HfpaJX0O4EDXHoRT7nDFgKKYsjmfZ/8H1DQV/QsH0g7pOQ58eVl8p4eTLvitlzj36agR2K+SHinZQzKSPgiBDEMRNZEIbQ/9nj7Q8bvfKoSzph6QeCcMeoh/agLcGA7WfSLVlgN6+knUbb7voPnEdQd59Jlwfsddwtvwpv98HqpXkikcXci1PkEAZcyLcn75Ub++dibt2eE5wl4Ekuooz5gnHBQLS5noXF4K1J1e1Di7OvCwI8IZjPeBYlWZYGfhC+PBsGQSSEH8mMsYQHns+joDdbPYIJruay6dZxqBpTTyDDc6hwDZfEIVQSZQ+f7b9/l2TOZv8BWHbrn5AeAAA=&quot;"/>
    <we:property name="datasetId" value="&quot;91d15eea-6143-43a5-a644-67c16421d0d9&quot;"/>
    <we:property name="embedUrl" value="&quot;/reportEmbed?reportId=d79ec048-d089-4ae5-b50f-ae0c8f914a7f&amp;groupId=1347d8b5-c22d-4e2a-bab7-3dd7782bbc24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9a2e2040-6070-407f-ae88-897458493846}">
  <we:reference id="WA200003233" version="2.0.0.3" store="en-US" storeType="OMEX"/>
  <we:alternateReferences/>
  <we:properties>
    <we:property name="Microsoft.Office.CampaignId" value="&quot;none&quot;"/>
    <we:property name="reportUrl" value="&quot;/groups/1347d8b5-c22d-4e2a-bab7-3dd7782bbc24/reports/d79ec048-d089-4ae5-b50f-ae0c8f914a7f/2412eee8b971ae5930b2?bookmarkGuid=60aa1d72-2d9a-4a6e-9c2c-1725c58db142&amp;bookmarkUsage=1&amp;ctid=0bc92751-071a-4e2c-a48b-633206fef374&amp;fromEntryPoint=export&quot;"/>
    <we:property name="reportState" value="&quot;CONNECTED&quot;"/>
    <we:property name="artifactViewState" value="&quot;live&quot;"/>
    <we:property name="reportEmbeddedTime" value="&quot;2025-11-03T15:39:22.279Z&quot;"/>
    <we:property name="creatorSessionId" value="&quot;93020fc8-cfd7-41fc-b719-2a2fc288166d&quot;"/>
    <we:property name="creatorUserId" value="&quot;10032004EEB1F08B&quot;"/>
    <we:property name="creatorTenantId" value="&quot;0bc92751-071a-4e2c-a48b-633206fef374&quot;"/>
    <we:property name="pageDisplayName" value="&quot;Sales Performance&quot;"/>
    <we:property name="pageName" value="&quot;2412eee8b971ae5930b2&quot;"/>
    <we:property name="reportName" value="&quot;UK_Train_Ride_Merged_New&quot;"/>
    <we:property name="isVisualContainerHeaderHidden" value="false"/>
    <we:property name="isFiltersActionButtonVisible" value="true"/>
    <we:property name="initialStateBookmark" value="&quot;H4sIAAAAAAAAA+1Z227bOBD9FUNPXcBYUDdbypvrpEC3zaVJkH1YBIshNbbZyKKWotJ4A//7jki5adwkTrxxHBR5k0aj4cyZw0NSuvYyWZU5zA5git6O916piynoi47vdb2itR0eftofHH/6+2Cwv0dmVRqpisrbufYM6DGaM1nVkDcRyPjXedeDPD+CcXM3grzCrleirlQBufwXnTM9MrrGedfDqzJXGpqQJwYMNmEvyZ3uaWz/95BGBGHkJZ6gMM4aRH6AiAlP+z5gnIaMB+RWOQeb2Z0uTWg7/FAVBmRBwzS2fhb2IUuFnwbQS30GPorGPpK5aV34bO+q1FQd1TwrG1QG2SUUAjPPlqCxchlfe4PxWOMYTHu7d+vhUOX19A77iaq1wGMc2UeFkWZGY2iQ+TeYeXPC6UgrQtGaTzUUFdhaOx937dMPddGCEze3E/VtqJHQzLwdNu+uTvpZ8vqMkHV2YVZ13nFZVL95P6dyTpZKFuO85cFNS05dhiKvKwIdM5fRcALaNJzjX6m5TSsogNIZ6vcz241dqRe0CLpLyW+/E/PzBXnppa8/0HNIgIyVdjVsCvzzeeODkMToj0TCE5aKIO6JMFif3fsIVa3xsckO8ryzeGUp4QHNchKJzpGWAteiCuhsXWpsrowG9a4nfA4sYCwO/D7ncdxjfXjNknKsaoNL/A1euCdbq9K1zIeQVgCktiV+D1MWRSxc2bJ2HktBWGxEU4/IdwIVdizAa2n783H9VIoLNJ2hqgvzYC4bh6XN5B5QVtK0lJfKnALPcfsCsgTqvUvGsfpWPd9yscwrGtXFfcYxbjfJrUYRAG+0EUUWsiBiiQij7c+yYzJb6XrdE2wlrzNV1OZ/7ZlentfPvxX6oZuOdH7iB8FIRP2YRynPApb2Vq/Gm5d2mE2xMISfmag1qbf9Le7bDv+laP0TX1pyhyKK0yiKabvpx0nAk97q0+upKg8IdOfTuJwtjtyE8Qetpta5/ShQ1fyfGqmUZfhPFg/o+svi4qFIugmxXGbXc8xgDZYnmBOIjwfN3djQd2/2uouxRxJzQo3GOHwxdt2f3c2p54ZOzNGJeuOotQAmaJTg0Qj+OcFGvy2ARSYX2X9cyvUJ6/xKjG3Wdjd176vfOTSf2w33Zpbx7/v7Vyik93T8yfrJQb9yzXyA2y+1A1jw0s6iMKGVv8dE348wiaOMDnn9N4VcQyH9N4V8U8g3hfz1FDISPApZEqUsYbEIgc7lfKVCbpEpf5BzgbPObu3+HHXe7Us6+WL7z+EGVP+X+4b5lNLdh01a+uh8gDBKAhT9URxnYD+5PAiCwSvD1dVtHJpoIxZEPObAoxhFGiYpBOn60TLG+iLgceInac8H1ushroxWTaDE5Vg23I3Fm6Ie21BE9KoEgUdQONEvHZgSrR9RF4qsoYa9tkv9Z0msdwOfQV7bCnRtv+53m1RkK+SP8HczbP4fkvCL7mgdAAA=&quot;"/>
    <we:property name="bookmark" value="&quot;H4sIAAAAAAAAA+1ZTW/bOBD9K4ZOXcBYkPpWbqnTAl203WwSZA+LHIbU2FYji1qKSuMG/u87Iq2mcZM48cZxUMQnkRwNZ948PpLylZcXTV3C/DPM0Nvz3ip1PgN9PuDe0KtcH4RxIgOejRkXPk9C5icxjaraFKpqvL0rz4CeoDktmhbKzhF1/nM29KAsD2HStcZQNjj0atSNqqAsvqEzpiGjW1wMPbysS6Whc3lswGDn9oLMqU0h8N8DmhGkKS7wGKVxvX7IfURMRZZwwCgLmPDJrHEGNrJbTTrXdvqRqgwUFU3T9SV5kECeSZ75EGecAUfZ9Y+L0ixNxPzdZa0pO8p5Xnfg7OcXUEnMPZuCxsZFfOXtTyYaJ2CWzXc3BkeqbGe39B+rVks8wrEdqkxh5jSHhqL8CnNvQTgdakUo2u4TDVUDNtfBhwM7+r6tluBEXXOqvo40Epq5t8cWw/VBP0lcHxHywQHMm8EbUVTNb97PoZxRT1NUk3LJg+uSnLgIZdk2BDrmLqLRFLTpOCe+UHG7UpADpXPUb+e2GgeF7mnhD1eC330lFmc9eemlLz/Qc0SATJR2OWwL/LNFZ4OQRsjHMhUpy6QfxTLwN2f3J4Sm1fjQYPfLctC/shLwPq1yEonBoS4kbkQV0Pmm1NheGh3qQ09yAcxnLCLdFCKKYpbAS5aUI9UaXOGv/8w12VmWrmQcAtoBkMqW8hgzFoYsWFuy5TouJGGxFU09JNspNDiwAG+k7U/H9ZNCnqMZjFRbmXtj2Tosy0juAGUtTeviQpkTECXuXkBWQL1zyzhSX5un2y5WeUWzOr9POMfNIrndKAQQnTaizAPmhyyVQbj7VXZE3Va6XvYCW8vrXFWt+V9npufn9dMfhX6opiMdT7nvj2WYRCLMRO6zLF6/G29f2mE+w8oQfmaqNqTe7o+4ryf856L1T3xZkjuQYZSFYUTHTR6lvkjj9bfXE1V/JtCdTWdy2l+5CeP3Ws2s8fLbQNOKf1ukVFbhP+4H6Pmv/uE+T7pzsZrm0HPMYB2Wx1gSiA8HzTWs69sPe8N+7nGBJaFGc/z5bOy6O7rrW881nZijE9XGUasHxu+U4MEI/j3FTr8tgFVe9NF/WIn1Efv8Woxt1PY0deer3zm0WNgD93a28e/n+xcopHdU/NH6KUC/cM28h9vPdQLoeWlXUZDSzh8zmfAQ0yjM6ZKXvCrkBgrJXxXyVSFfFfLXU8hQijBgaZixlEUyALqXi7UKuUOm/EHGFc4HB63752jw5lNBN19c/udwDSr/5b5hPiZ192GTtj66HyCMUx9lMo6iHOwnl3tBMHhphLq8iUPnbcz8UEQCRBihzII0Az/b3FvOWCJ9EaU8zWIOLI4R13prplDjqi/r7rrHm6GeWFdE9KYGiYdQOdGvHZgFWjuiLlR5Rw37bLf6jwWx3k18CmVrM9At9spMv/8APXMZLT8dAAA=&quot;"/>
    <we:property name="datasetId" value="&quot;91d15eea-6143-43a5-a644-67c16421d0d9&quot;"/>
    <we:property name="embedUrl" value="&quot;/reportEmbed?reportId=d79ec048-d089-4ae5-b50f-ae0c8f914a7f&amp;groupId=1347d8b5-c22d-4e2a-bab7-3dd7782bbc24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47deaa5a-ceb2-4747-bea0-645233f32a2e}">
  <we:reference id="WA200003233" version="2.0.0.3" store="en-US" storeType="OMEX"/>
  <we:alternateReferences/>
  <we:properties>
    <we:property name="Microsoft.Office.CampaignId" value="&quot;none&quot;"/>
    <we:property name="reportUrl" value="&quot;/groups/1347d8b5-c22d-4e2a-bab7-3dd7782bbc24/reports/d79ec048-d089-4ae5-b50f-ae0c8f914a7f/de18af4640cd87880970?bookmarkGuid=8a39c801-77a2-46f4-8b7f-4cc667126b77&amp;bookmarkUsage=1&amp;ctid=0bc92751-071a-4e2c-a48b-633206fef374&amp;fromEntryPoint=export&quot;"/>
    <we:property name="reportState" value="&quot;CONNECTED&quot;"/>
    <we:property name="artifactViewState" value="&quot;live&quot;"/>
    <we:property name="reportEmbeddedTime" value="&quot;2025-11-03T15:40:01.983Z&quot;"/>
    <we:property name="creatorSessionId" value="&quot;bc2a2c74-8d4c-4c87-8c94-ae16ea00acb3&quot;"/>
    <we:property name="creatorUserId" value="&quot;10032004EEB1F08B&quot;"/>
    <we:property name="creatorTenantId" value="&quot;0bc92751-071a-4e2c-a48b-633206fef374&quot;"/>
    <we:property name="pageDisplayName" value="&quot;Weather Impact&quot;"/>
    <we:property name="pageName" value="&quot;de18af4640cd87880970&quot;"/>
    <we:property name="reportName" value="&quot;UK_Train_Ride_Merged_New&quot;"/>
    <we:property name="isVisualContainerHeaderHidden" value="false"/>
    <we:property name="isFiltersActionButtonVisible" value="true"/>
    <we:property name="initialStateBookmark" value="&quot;H4sIAAAAAAAAA+1abW/bOAz+K4Y/bUBwkPwq71uX7m53W7eiK7YPh+JASXTizbUDWemaG/rfj37JNWu6NkvS1cP8KbEkU+QjPiTF5Iurs2qWw+INnKP7zH1elp/OwXxyuDtyi27s7dtXRwcnr/55c3D0gobLmc3KonKffXEtmAna91k1h7yWQIN/n41cyPNjmNRPKeQVjtwZmqosIM/+xXYxTVkzx6uRi5ezvDRQi3xnwWIt9oKW0zPtzX/zaUdQNrvAd6hsO6qRC0iDKGBKi1gIlsSMllXtgkazW5fUopvtx2VhIStom3rMD3iShglozdBjEAMyXY+nWW67JXLx4nJmyDqyeTGrUTnQF1Ao1G5jgsGq1fiL+zJDA0ZNF6/xAvN65MXt8+tTx6YkpOziPZisRaScG4XrC9vxE0ybqcJmlqS5f9FogYsPmZ1+QLBTNO4VIdwd7f9CSePlRjR8SJg7Zep0LzdvrKjYzl8P1NOdYTTVPk/Lz2NDGxIYz9jV6H6IjhCqudnYroM8d5av1PutaH9ArkKe5hwi+bDzmSx3Pq+Y/qiaTZwPWaFv0eOMRqqsmOQdGa798rRVLyfXHOfzirwP9bjM5+fFuDyX5XgKxtYMlB/J1WvHJEml0WieLxrfPMzMkiR89C2/+0X88upsGThI6seV0DCmNyelaRH71VA5u6rHAgp0ccA0xsxncegryfgQ8YaIt3PEO6GsSjk/H6LeEPV6hEob9TAUXEMqtQ4Dz2ORlHKIekPU2z3qneI5PYKlaecoK4bgNwS/HqHSBj9Px75AiQlDrXjMpfS97YPf/vhzWlrIHV3zGrVzarLZNvRRYPSGLPFusuSBbanxH7lCBxGTnCUYIGOxnzAv6gP89iuVu5jqWFK9+nnP4W6j2gNJOV1/ApbEgcd0IiQIb4emz759qM1zL+nl247hOsF1gS1TdBY3dWqzyKYqHeKMMk2dwVZD04pi47LQWXN0W/jFLMPvyWQPztGv8d0sbzwgnl19KrXviVD7HMOEsSCOEnavS/5AD6jLHOcPU85nhN9tYXqDwutgMjE4adPcml7fp+83sulq6mxO+XDetpedJ1SbzS1WT5t1v8+LZd20TaC7Uavt4tw9xeRRWLHmYy01uExYCEEgIuKFr0Qog/uj9Q+kxrLvcQLFBAdmDMzYPzNuulhLDD9RiZfqKGRcoQyZ5ydy6Gn8FD2Nzk7nHalkaLXzZ6HxcuvmwdAoGBoF+2gUhJ4f+jKNVBSAJ3yPUcbtU6q96x7yQ/nb5otxWdltOGsyKcvdsuMDmdKT2xBHpXwhdaTilKVMcJ+pWuadqFq8tLK8/BrRWhoTqLiCgAP3IAVEHcL20hKRguJMMypHBQ/TRGwgrZoCfa7JihRAkqSB4JhE2tNpwnD7DL7H9FSayi6Pq7swPznPiqfb9oW6qUd39rsMa3tDGCuW+hKZj8h5mgoI4j4cya6/sPbpFG7Y0gLvSUb+73kSEsljrZUve9El3eXPPH0DvbOjBTwQHgQgYt8XQeSrhNJ92nPAN2t+/jq121FZ2Olebw1DZbyObve/KdA+hKmkEiJCHqdekNxfG/fpKjmQZyDPY5GHCvpEejJNAw2c+xpD3otf3O6pqgbKDJR5LMqISIcRxJEXJ7EvgYeg77+IDG56l5v+tH8OG5jzPcxJhfDoWqO4JyPNeCBDDX1JNnvwiL5dKtdNas6hXnmtnXuOZtLsWM5tNQOFx1Bgo+msFZdhs47ABypgdffd1J+vMzq3Fon3kM+b9pyZ18rQHoRNJnPccH2n238Ytzzp/DYAAA==&quot;"/>
    <we:property name="bookmark" value="&quot;H4sIAAAAAAAAA+1aS2/bOBD+K4JOLWAsSFEv9pY63e0u2kXRBu1hkcOQHNlqZUmg5DTeIv99Rw9v3DhNXNtpVFSnRCQ1nPk438xwrC+uSasyg9XfsED3mfu8KD4twH5yuDtx827Mjzxp0Mco0lIEgkehQpotyjot8sp99sWtwc6wfp9WS8gaQTT4z/nEhSx7A7PmKYGswolboq2KHLL0X+wW01Rtl3g1cfGyzAoLjch3NdTYiL2g5fRMKvDfBO0Iuk4v8B3quhs1yGNI/NBn2sRRHDMZMVpWdQtazW5d0ohut58WeQ1pTts0Y8LnMgkkGMPQYxABMtOMJ2lW90vU6sVlack6snlVNuCcmAvINRq3NcFi1Wn8xX2ZogWr56tXeIFZM/Li9vntqTe2IKTq1XuwaYdIsbQatxd2428xaafyOq1JmvsXjea4+pDW8w8I9Ryte0UI9yf8v1DSeL0RDZ8S5k6ROP3L7RsbKnbz1wPNdG8YTXXP8+Lz1NKGBMYzdjW5H6LXCNXS7mzXSZY561ea/Ta0PyFXIU9zTpFc2flMljufN0x/VM1mzoc0N7focU4jVZrPsp4M13551qmXkWtOs2VF3odmWmTLRT4tFqqYzsHWDQPVR3L1xjFJUmEN2uer1jdPU7smCZ98y+9+Eb+8Ol8HDpL6cSM0TOnNWWE7xH41VM6vmjGfAl3kM4MREywKhFaMjxFvjHgHR7y3lFUp52dj1Buj3oBQ6aIeBjE3kChjAt/zWKiUGqPeGPUOj3pnuKBHqGnaeZ3mY/Abg9+AUOmCn2ciEaNCydBoHnGlhLd/8Dsef86KGjLHNLxG45zZtNyHPhqs2ZEl3k2WPLAtDf4TNzZ+yBRnEn1kLBKSeeEQ4K+/UrmPqU5Nqlc/7zncbVR3IAmn64/PZOR7zMhYQewd0PQ5tg91ee4lvXzbMVwnuD6wpZrO4qZOXRbZVaVTLCnTNBlsMzRtKDYtcpO2R7eHX5Qpfk8me3COfo3vbnnjAfHs61NlhBcHRnAMJGN+FEp2r0v+QA9oyhznD1ssS8LvtjC9Q+F1MptZnHVpbkuv79P3G9l0M3W2p3y67NrLzhOqzZY1Vk/bdb8v83XdtE+gu1GrHeLcA8XkUVix5WMdNbiSLADfj0PihdBxoPz7o/UPpMa67/EW8hmOzBiZcXxm3HSxjhhCauklJgwY16gC5gmpxp7GT9HT6O103pFKllY7f+YGL/duHoyNgrFRcIxGQeCJQKgk1KEPXiw8Rhl3SKn2rnvID+Vvly+mRVXvw1mbKlUclh0fyJSB3IY4ai1iZUIdJSxhMRdMNzLvRLXGy1oVl18j2khjMWquwefAPUgA0QSwvzQZJ6A5M4zK0ZgHiYx3kFbNocRtWaEGkDLxY44yNJ5JJMP9M/gR01Nhq3p9XP2F+ckizZ/u2xfqpx7d2e8yrOsNYaRZIhQygch5ksTgR0M4kkN/YR3SKdywpQPeU4z83/MUSMUjY7RQg+iSHvIxz9BA7+3oAPdjD3yIIyFiPxRaUrpPBg74bs3PX6d2e13k9fyot4axMt5Gt/9uCoyAIFFUQoTIo8Tz5f218ZCukiN5RvI8FnmooJfKU0niG+BcGAz4IH5xu6eqGikzUuaxKBOHJgghCr1IRkIBD8DcfxEZ3fQuN/1pPw4bmfM9zEni2KNrjeaeCg3jvgoMDCXZHMEjhnap3DapPYdm5bV27gLtrN2xWNZVCRrfQI6tpmUnLsV2HYEPVMCa/n/b/H2V0rl1SLyHbNm25+yyUWa913+E3Dkl0zYAAA==&quot;"/>
    <we:property name="datasetId" value="&quot;91d15eea-6143-43a5-a644-67c16421d0d9&quot;"/>
    <we:property name="embedUrl" value="&quot;/reportEmbed?reportId=d79ec048-d089-4ae5-b50f-ae0c8f914a7f&amp;groupId=1347d8b5-c22d-4e2a-bab7-3dd7782bbc24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3e571363-dd8b-499f-a224-4472a2fecfa5}">
  <we:reference id="WA200003233" version="2.0.0.3" store="en-US" storeType="OMEX"/>
  <we:alternateReferences/>
  <we:properties>
    <we:property name="Microsoft.Office.CampaignId" value="&quot;none&quot;"/>
    <we:property name="reportUrl" value="&quot;/groups/1347d8b5-c22d-4e2a-bab7-3dd7782bbc24/reports/d79ec048-d089-4ae5-b50f-ae0c8f914a7f/949a2251008b60060aeb?bookmarkGuid=d2a7a538-c5b7-4268-bba4-5f50d2a90f6e&amp;bookmarkUsage=1&amp;ctid=0bc92751-071a-4e2c-a48b-633206fef374&amp;fromEntryPoint=export&quot;"/>
    <we:property name="reportState" value="&quot;CONNECTED&quot;"/>
    <we:property name="artifactViewState" value="&quot;live&quot;"/>
    <we:property name="reportEmbeddedTime" value="&quot;2025-11-03T15:40:25.996Z&quot;"/>
    <we:property name="creatorSessionId" value="&quot;8a4baf69-7e0a-4865-90ff-34d6e834705b&quot;"/>
    <we:property name="creatorUserId" value="&quot;10032004EEB1F08B&quot;"/>
    <we:property name="creatorTenantId" value="&quot;0bc92751-071a-4e2c-a48b-633206fef374&quot;"/>
    <we:property name="pageDisplayName" value="&quot;Passenger Behavior &quot;"/>
    <we:property name="pageName" value="&quot;949a2251008b60060aeb&quot;"/>
    <we:property name="reportName" value="&quot;UK_Train_Ride_Merged_New&quot;"/>
    <we:property name="isVisualContainerHeaderHidden" value="false"/>
    <we:property name="isFiltersActionButtonVisible" value="true"/>
    <we:property name="initialStateBookmark" value="&quot;H4sIAAAAAAAAA+1Z227jNhD9FUPPRkFR1oV5c5wUWGxzaRKkD0VQDMmRo40iqRSVjRv430uR8iZrO7d27SiL+EkajodnDg+PJfrOk1ld5TA7hGv0drzdsry6BnU18L2hV3Sxo6PPB+OTz38djg/2TbisdFYWtbdz52lQU9TnWd1A3lYwwT8vhh7k+TFM27sU8hqHXoWqLgvIs3/QJZshrRqcDz28rfJSQVvyVIPGtuyNSTf3Zm7/l8DMCEJnN3iKQrsoGzGgNPQJSXhESEQAuUmrXYJFtjalLW2nn5SFhqww07QxKcMgYSmnQEjsE8Z5mLTxNMt1l8Jn+7eVMt2ZnmdVy8pY3kAhUHq2BYW1Q3znjadThVPQ3e3+d4OTMm+u18RPy0YJPMHUDhU60zMzh4Is/wozb254OlalYdGGzxQUNdheB5/27OivTdGRE7a3l+XXiULDpvR2yHz4DfTEhKalygTkK7h/CLQ9rEDpRuHgLDPiWcVyYSJ1VkzzTgj3a3LmIIq8qQ3rKB2eyaWp14qOfzGr266FKVAqiWp3ZpdjL1MLXfjDTbC90tL8YqFIk/XlgeY6dh2uzcx9MW8zUgajQNA4hBiZT2kgBTwr2LOyOjREupw25Xyxy6jRjyqvbXLnA3XD/27QtLJM6eliwFz/vrh4qpJqSyy3OfTcalttdonwMHGc54MDhNq0/iDZEH+KuWH85Qy7G4tjiduxUtkN5IM9rHVWuP1qMjo0aYa59NoZj9aLjS4zs4D7QjywsqszcYV6MCmbQncqM0tmVE3smjsO6APCnmHWfP+PS2wBWa4KmS0s6dMSafXG6LRNAM/x8ULflDZvPxfzjdjSenCP++Q7MveXG+ouqNe46YrA3773LTrvI3K2W3FkTBekIMAIT0Yh8xMiP+z3lX5x/9PWPvZ9mO+PJrMv1rsO2ofxfhjva/TibDdC4ic8pVQEUQScsSTGXr+mdZ6SQ1336iVtBdgrhS3LotF9V/ST5G9Rz0tAnJQhYAkN4yCJfUogiTCQvT5xMGlNIQcnaH4vat0rMa+B9hPK+bkF2KKgV6A4SUs/liFPIhZzGQMJBUb+s5LeltXZle7rc8cSxP/30PEexPxkx9u35g6Hk3EoGJVpyhKgnCD6nI9En5352GyeZRb9PjxdPLLlNnn++wZSfoT+NxYxE3yUBsSPYxoShkFI4XkRf3jxJt8B34Wae/QauE7WPuMxCgxJIgMRiFFkrvvszT3+n24stBHpYHHK+dP8Wbe+r22eG68F0J0bp5ICpxH4bEQhIVI6W36SYo23mpe337PaVovRD6OUCUGRJGEUJSyW/70aADCKQH0eyQRjFqLr98lq9SVUuFzLlruPeNeopvacpmx0XYHAYyjcuWjlaMvQ5hmVQyFRdtf2jPy3zKjLTXwOeWM7UI1d0mELJevON1+Q7xZh/i8HCyeN8SAAAA==&quot;"/>
    <we:property name="bookmark" value="&quot;H4sIAAAAAAAAA+1ZTW/bOBD9K4bOxoKirA/mljgtUGC3m22C7GGRw5AcOWoUSUtRabyB/3tHotyktvO1rR2liE/ScDx88/j4LNE3ns7qKof5R7hEb887KMuLSzAXI98be4WL6TRKJnwimR8IjQxTlgoaLSublUXt7d14FswM7WlWN5C3hSj4z9nYgzw/gll7l0Je49ir0NRlAXn2H7pkGrKmwcXYw+sqLw20JY8tWGzLXlE63RME/7eAZgRlsys8RmVdVEwEcB76jCUyYixigJLSapfQIduY0pbupp+WhYWsoGnamNZhkIhUcmAs9pmQMkzaeJrltk+R83fXlaHuqOd51ZKzr6+gUKi9rgWDtUN84+3PZgZnYPvbd98NTsu8udwQPy4bo/ATpt1QYTM7pzkMZPkXmHsL4unIlMRiFz4xUNTQ9Tr6cNiNvm+KnpywvT0vv0wNEpva22OL8TfQUwrNSpMpyNdw/xRoh1iBsY3B0UlGGlrHckaROitmeS+E2zU5cRBV3tTEOmqHZ3pO9VrRyc+0uu1aUIHSaDQH8245DjOz1IU/3gbbay0tzpaKpKzPdzTXs+twbWfus0WbkQqYBIrHIcQofM4DreBRwZ6U1Uci0uW0KafLXcZJP6a87JJ7O6gb+W+D1MoqpcfLAbr+a3nxUCXTllhtc+y51e602SfC3cT9PB/9gVBT63eSifhjzInxpzPsbjocK9zuG5NdQT46xNpmhduvlNGjSTPMtdfO+OdmsfFVZpZwn4gH1nZ1pi7QjqZlU9heZbRkpGrWrbnjgN8h7BFm6ft/n2MLqOOq0NnSkj6skFZvjc6uCZA53l/om9IW7edssRVb2gzufp98Reb+dEM9APMcN10T+Mv3vkPnvUfO3VackOmCVgwEk8kkFH7C9Jv9PtMvbn/a2se+N/P92WQOxXo3QXsz3jfjfY5enO1GyPxEppyrIIpACpHEOOjXtN5TcqjrQb2krQF7prB1WTR26Ip+kPwd6nkFiJMyBCLhYRwksc8ZJBEGetAnDpTWFHr0Cen3oraDEvMGaL+gnB9bgB0Keg2Kk7T2Yx3KJBKx1DGwUGHkPyrpXVldt9JDfe5YgfhjDx2vQcwPdrx7a+5xOBmHSnCdpiIBLhmiL+VEDdmZj2jzrLLoD+Hp4p4tt83z3xeQ8j30v7CIhZKTNGB+HPOQCQxCDo+L+M2Lt/kO+CrUPKDXwE2y9oWMUWHIEh2oQE0iuh6yNw/4f7p9ZUmko+Up5y/zZ93mvnZ5brwRQH9unGoOkkfgiwmHhGntbPlBii1eW1lef89qWy1GP4xSoRRHloRRlIhY//9qACA4AvdlpBOMRYiu3wer1edQ4WqtrtxtxLtEM+vOacrG1hUoPILCnYtWjrYMuzxSORQadX/dnZH/npG63MSnkDddB6bB5YElfb4C34C+ocggAAA=&quot;"/>
    <we:property name="datasetId" value="&quot;91d15eea-6143-43a5-a644-67c16421d0d9&quot;"/>
    <we:property name="embedUrl" value="&quot;/reportEmbed?reportId=d79ec048-d089-4ae5-b50f-ae0c8f914a7f&amp;groupId=1347d8b5-c22d-4e2a-bab7-3dd7782bbc24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46711ced-92e9-4a0f-93fe-06a077d253d9}">
  <we:reference id="WA200003233" version="2.0.0.3" store="en-US" storeType="OMEX"/>
  <we:alternateReferences/>
  <we:properties>
    <we:property name="Microsoft.Office.CampaignId" value="&quot;none&quot;"/>
    <we:property name="reportUrl" value="&quot;/groups/1347d8b5-c22d-4e2a-bab7-3dd7782bbc24/reports/d79ec048-d089-4ae5-b50f-ae0c8f914a7f/69fcd9faf1347318f5ec?bookmarkGuid=fa68b712-a9fe-4916-94d5-f72341e38840&amp;bookmarkUsage=1&amp;ctid=0bc92751-071a-4e2c-a48b-633206fef374&amp;fromEntryPoint=export&quot;"/>
    <we:property name="reportState" value="&quot;CONNECTED&quot;"/>
    <we:property name="artifactViewState" value="&quot;live&quot;"/>
    <we:property name="reportEmbeddedTime" value="&quot;2025-11-03T15:40:48.199Z&quot;"/>
    <we:property name="creatorSessionId" value="&quot;6d790c5e-4b51-459b-8330-5ce354fa9103&quot;"/>
    <we:property name="creatorUserId" value="&quot;10032004EEB1F08B&quot;"/>
    <we:property name="creatorTenantId" value="&quot;0bc92751-071a-4e2c-a48b-633206fef374&quot;"/>
    <we:property name="pageDisplayName" value="&quot;Overview Dashboard&quot;"/>
    <we:property name="pageName" value="&quot;69fcd9faf1347318f5ec&quot;"/>
    <we:property name="reportName" value="&quot;UK_Train_Ride_Merged_New&quot;"/>
    <we:property name="isVisualContainerHeaderHidden" value="false"/>
    <we:property name="isFiltersActionButtonVisible" value="true"/>
    <we:property name="initialStateBookmark" value="&quot;H4sIAAAAAAAAA+1b23LbNhD9FQ5fksxoOgAJEqTfHDtp09SJa3vih46ng8tCYkKTKi+O1Yz/vcuLfJFkSbElmVb9ZBFcLnb3HBwQAP3D1lE+jMXokzgHe8d+m6bfzkX2zaJ2z07ats+fPx7sHn38+9PuwTtsTodFlCa5vfPDLkTWh+JLlJcirjxg419nPVvE8aHoV1dGxDn07CFkeZqIOPoXGmO8VWQlXPVsuBzGaSYql8eFKKBye4HmeI19019c7FGoIrqAY1BF0+qHRunQCENdxl0aGA8UmuWNQR3ZTJPKdd39XpoUIkqwm6qNKk2N4FxKLimnXACTVXseJf24Dfjm2ZPRsKpKAZeFTC+resiv2HHl6eoKE/KZE1TuPCrdwA2EFOEjvKnAMBJw4gjCAwxQOyFZ6C0fCPw75cuRUhkhXS0YY1Ib4jCnetZEcdGWQo7eXQ4zRBGxbXzt6guRKNB2DVUGeYPMD/sARF5mNV7v7tw4TstMwRGY+lZSRMWo8hPH1viRKpjDLEVW1LdOIvUNCmsvLZOivjdIv+9lgGTQ9g65OsOWuekqkem72eJFpiF7O6oz2Y+yMXWc3kSwa8sCw8b7PCBECWU4EVwZZqTjw8NLvtvvZ9AXRXt5N+C9NC7PZ7TPTiQTUfxdjCaTOMwi1WT2vkzampENQ/JkWTaQiRA8HGeB9IQPONy8ANwuQ/Y7GicwsvbLRkWt1wdRUhaQv5nIkG4djj+TegOuBJc4fgCUAfhah0z7vMvgHqWYzkQyztbheE+WDWQeh1CFoQpw0qKEUMId3YlZKy1EbGnAlyfQ1kkWDZ/x3DUrl6b84HuhHzKPMCKZDLXLuehC+Ys7IX/Hig8gswoMPX++OMxPqgFEMVCSO67jAJWKMJdp0gVATtMsL6zTNub9Kgfr9XmUvHm+cMxLqQFDMx+IkUpL4mrqAgPuLQRjD8vQT/EdBBOfxGOl82K1oCpnDYdeF+a2GVHeyL/3ANLoFCf/vYHIiu5OdYuSvjobL3fxoa+3FrQtaZoc1hPKWb1KDH0TcA9clBbP9z1qIPCfntKHYnQOSYEjtRikuquUPkTbgcjBqhn5/2D0gpw3SOgpjjSEdo1yncAPXAWKceJ7Hn/EC+T6CzreSIhFvoQq9jY3BqcC20I2zy/+Bsk8EUhDZao8l1LCDBeubxyQNOjA60Yb6vX476AwT4a4/bI8N+PN87iNo1VkTsEH4YTUeIQzY3Bd32VFRrMy0dYR/FNCXnRKk2eEtoVkXgTABvk8FUpDaS7C0GeBR32UZOb6jhvM2VhsT9YMSM6lCj0eKPCYCDUu5XuzudM4qvx8GZ+OIRDvs/S89tie32VoOZVBz26gJlWZTnEpC205Eh2NQfswUZd8+Yo1F3XnU7USeZpYJm0Xz3YN1BcRl/VJIXbwR4RJNaSsm/GhV8dRPxGx9R6jxzX5q/qh+0wLYYx1PEizQvSXMMVxMNfoBNQgqQpufcjzcr7Dk6xyqObatFsHy9hY13DktflZvcWwJs2YgqWbk3YmklzUg9n6sL+CeVvFZY4AgH4rso4r3qLcN6p406O4PekmnjQUp3HFAp9QL1zicPMkHX5aWs7yUqLMZpWETSQwvoG//xz/eIQw9q4NxW3D23uDd1T0GGKs+Uo0sjn76I37NxHEuHbFPj6vdL/zOgIxGcHuBWpSH9r9zRsSVDEgWvYOJTXcTfrOrVp1bLZpT5GqsIWM4f5Hr2l1dbVGlb0+1OqgtDZYr+fI+PmI7PJV2KTcjmlcDzpPAjCglAaOIzlRDlHqmWpsx2Tz8fS6P7p7PzBpFdV7EdQtE9RVfTglOy+ac7j9JArp+0z4HgPONPGYdLUMF2/vvyjkNJfoi0K+KOSLQm6fQjrKuIFxFFOe8YgB13MXf/S4up3rfRgiXLhCHX9JM7XXAedD69csLYe4Bp31Fd1m+dt+F3EaFYN7At7E6qmJuStMX2VN1jEOfp5jzdBgEHIdusYJJQmoANBh0KWhcSSixIg4PhJJ/+mV/WVkbOHImKRYO2e4gQbmuJpLbRihWjZ+uzIwbt7tHjQoVv3pdIPxb/jww74+XiG315vak1D0NtjtcatUnLo+VZqxwHMg0KJTut0Zejbo7aUP+zYgi6RMu0LHO6l0goc1FW+qYp9D1q8zxdfvfCgUHIqkWYoOGycR1HYItkg06PZ3vQEx42i4+g9Zu+4DQYna5eUS9m1w/wH9u5yG3DsAAA==&quot;"/>
    <we:property name="bookmark" value="&quot;H4sIAAAAAAAAA+1b23LbNhD9FQ5fksxoOgAJEKTfEjtp02lS1/bEDx0/4LKQmNCkyotjNeN/7/IiXyRZcmxJpl3nxSK5WO7uOTggLvnhmrgYJ3LyWZ6Cu+O+y7JvpzL/5lB34KbtPetFEHih5ZHPOJdGaR7g02xcxllauDs/3FLmQyi/xEUlk9oR3vz7ZODKJNmXw/rKyqSAgTuGvMhSmcT/QmuMj8q8gouBC+fjJMtl7fKwlCXUbs/QHK8xBPqLj2+UuozP4BB02d4NIqtNZKWlPhM+xQhBo1nRGjSRLTSpXTev383SUsYpvqa+R7WhVgqhlFBUUCGBqfp+EafDpAv4qu3RZFwXp4TzUmXndT3UV3xx7eniAhMKmBfW7jhVfuiHUsnoAd50aBkJBfEkESEGaLyIrPRWjCT+nfPlKaWtVL6RjDFlLPGYV7e1cVJ2pVCT9+fjHFFEbFtfb82ZTDUYt4Eqh6JF5of7CWRR5Q1e7288OMyqXMMB2OZRWsblpPaTJM60SR3Mfp4hK5pHR7H+BqWzm1Vp2TwbZd93c0AyGHeHXJzgnaXpapmbm9niRW4gfzdpMtmL8yl1vMFMsBvLAsPG5yIkREttBZFCW2aVF8D9S/52OMxhKMvu8mbAu1lSnS64vziRXMbJdzmZTWI/j3Wb2Ycq7WpGtgzJo2XZQiYj4NjPQsVlANjdeAh+nyH7HY1TmDh7VauizutPcVqVULyZyZA+Oxx/JvUWXAU+8YIQKAMIjImYCUSfwT3IMJ2ZZLxnh+MtWbaQcQGRjiId4qBFCaFEeKYXo1ZWysQxgN9QYJyjPB4/4bFrUS5t+SHgURAxThhRTEXGF0L2ofzljZC/Y8VHkDslhl48XRyWJ9UCohloJTzf84AqTZjPDOkDIMdZXpTOcRfzXp2D8/o0Tt88XTiWpdSCYVgAxCptFPEN9YGB4CvB2MUyDDP8BsHEZ/FY67hYT6iqRd1h0IexbUGUV/LP70Eak+HgvzuSednfoW5V0hcn0+kuNvp6bULbkabNYTOhnDSzxCiwoeDgo7TwIODUQhg8PqX35eQU0hJ7ajnKTF8pvY+2I1mA0zDy/8HoFTlvkdBzHGkJ7Vvte2EQ+ho0EyTgXDzgA3LzBZ0uJCSyuIMqDrbXB+cCe4ZsXl78LZJ5JpCWylRzn1LCrJB+YD1QNOzB50YX6mX/76Ewz4b4/GV5acbb53EXR6fIgkIA0ouo5UQwa3Fe32dFRrMqNc4B/FNBUfZKkxeE9gzJvAqALfJ5LpSW0kJGUcBCTgOUZOYHnh8uWVicbrCBEkLpiItQA2cyMjiVHyzmTuuo9vNlujuGQHzIs9PGY7eNl6PlXAYDt4Wa1GU6xqksdOVITTwF7eNMXYq7V6y9aF4+VytZZKljs27y7DZAfZFJ1ewU4gv+iDGplpTNbWz06jAepjJxPmD0OCd/1TS6zbSU1jqHoywv5fAOptgPlhodgR6ldcGdj0VRLXd4lNcO9VKbbungLjbOJRxFY37SLDFsSDPmYOnnoJ3LtJBNZ3Y+7q1h3NZJVSAAYN7JvOeKtyr3rSrefC/udroJV5biMK5ZGBDKoztsbh5l4893lrOiUiizeS1hMwlMH+Dvv6Y/HiCMg0tDed3w+trgDRU9hARrvhaNbPc+BtP32xgSnLviO/5c63rnZQRyNoK3Z6hJQ+jWN69IUMeAaLk7lDRwt+l712rVs9Gm20Wqw5YqgdubXtLq4mKDKnu5qdVDaW2x3syW8dMR2btXYZtyO6Vx0+m4AmBAKQ09TwmiPaL1E9XYnsnmw+l1e3S3HjDpFJW/COozE9R1HZxSvRfNJdx+FIUMAiYDzkAwQzhTvlHR6uX9F4Wc5xJ9UcgXhXxRyOenkJ62fmg9zTS3nFjwub/60OP6Vq73YIxw4Qx1epJmbq0DTsfOr3lWjXEOuugU3Xb5252LOI7L0S0Bb2P21MbcF6avsyab6Ac/z7G2azCIhIl860WKhFQCmCjsU9c4kHFqZZIcyHT4+Mr+0jOeYc+YpVg3ZvihAeb5RihjGaFGtX770jGuvu3u1SnWfXS6xfg3bHy/08dr5PZmU3sUil4Hu9tuVVpQP6DaMBZyD0Ije6XbvaFni95udr+zAXmsVNYXOt5IpRc8bKh4VRX3FPJhkyl+fhdjqWFfpu1UdNw6iaGxQ7BlasB0v5sFiAVbw/X/kJ3OF/Hffx1RdnGzOwAA&quot;"/>
    <we:property name="datasetId" value="&quot;91d15eea-6143-43a5-a644-67c16421d0d9&quot;"/>
    <we:property name="embedUrl" value="&quot;/reportEmbed?reportId=d79ec048-d089-4ae5-b50f-ae0c8f914a7f&amp;groupId=1347d8b5-c22d-4e2a-bab7-3dd7782bbc24&amp;w=2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backgroundColor" value="&quot;#E8E8E8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2251</TotalTime>
  <Words>312</Words>
  <Application>Microsoft Office PowerPoint</Application>
  <PresentationFormat>On-screen Show (16:9)</PresentationFormat>
  <Paragraphs>71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Segoe UI Light</vt:lpstr>
      <vt:lpstr>system-ui</vt:lpstr>
      <vt:lpstr>Office Theme</vt:lpstr>
      <vt:lpstr>UK Train Ride Analysis</vt:lpstr>
      <vt:lpstr>Team Members</vt:lpstr>
      <vt:lpstr>Agenda</vt:lpstr>
      <vt:lpstr>Project Overview </vt:lpstr>
      <vt:lpstr>Project Idea and Objective </vt:lpstr>
      <vt:lpstr>Project Idea and Objective </vt:lpstr>
      <vt:lpstr>Project Stages</vt:lpstr>
      <vt:lpstr>Data Sources  </vt:lpstr>
      <vt:lpstr>Cleaning Steps</vt:lpstr>
      <vt:lpstr>Data Modeling </vt:lpstr>
      <vt:lpstr>DAX</vt:lpstr>
      <vt:lpstr>Sample Visuals</vt:lpstr>
      <vt:lpstr>Reports</vt:lpstr>
      <vt:lpstr>Microsoft Power BI – Operational Performance</vt:lpstr>
      <vt:lpstr>Microsoft Power BI – Sales Performance</vt:lpstr>
      <vt:lpstr>Microsoft Power BI – Weather Impact</vt:lpstr>
      <vt:lpstr>Microsoft Power BI – Passengers Behaviour </vt:lpstr>
      <vt:lpstr>Dashboard</vt:lpstr>
      <vt:lpstr>Microsoft Power BI – Overview Dashboard</vt:lpstr>
      <vt:lpstr>Q&amp;A Session</vt:lpstr>
      <vt:lpstr>Thank You!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Train Ride Analysis</dc:title>
  <dc:creator>Shireen TP430</dc:creator>
  <cp:lastModifiedBy>sarah 90204784</cp:lastModifiedBy>
  <cp:revision>26</cp:revision>
  <dcterms:created xsi:type="dcterms:W3CDTF">2017-08-01T15:40:51Z</dcterms:created>
  <dcterms:modified xsi:type="dcterms:W3CDTF">2025-11-03T16:08:41Z</dcterms:modified>
</cp:coreProperties>
</file>